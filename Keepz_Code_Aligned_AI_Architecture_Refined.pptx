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89611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500" b="1">
                <a:solidFill>
                  <a:srgbClr val="0F2348"/>
                </a:solidFill>
                <a:latin typeface="Aptos"/>
              </a:rPr>
              <a:t>Keepz — code-aligned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566928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516175"/>
                </a:solidFill>
                <a:latin typeface="Aptos"/>
              </a:rPr>
              <a:t>Current prototype implementation • executable flow from synthetic data generation to Streamlit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09960" y="228600"/>
            <a:ext cx="594360" cy="274320"/>
          </a:xfrm>
          <a:prstGeom prst="roundRect">
            <a:avLst/>
          </a:prstGeom>
          <a:solidFill>
            <a:srgbClr val="0F2348"/>
          </a:solidFill>
          <a:ln w="15240">
            <a:solidFill>
              <a:srgbClr val="0F2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28600"/>
            <a:ext cx="59436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987552"/>
            <a:ext cx="1572768" cy="5349240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987552"/>
            <a:ext cx="1389888" cy="5349240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75887" y="987552"/>
            <a:ext cx="3456432" cy="5349240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987552"/>
            <a:ext cx="1664208" cy="5349240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53728" y="987552"/>
            <a:ext cx="2679192" cy="5349240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75887" y="987552"/>
            <a:ext cx="3456432" cy="5349240"/>
          </a:xfrm>
          <a:prstGeom prst="roundRect">
            <a:avLst/>
          </a:prstGeom>
          <a:solidFill>
            <a:srgbClr val="202771"/>
          </a:solidFill>
          <a:ln w="38100">
            <a:solidFill>
              <a:srgbClr val="794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" y="1097280"/>
            <a:ext cx="274320" cy="274320"/>
          </a:xfrm>
          <a:prstGeom prst="ellipse">
            <a:avLst/>
          </a:prstGeom>
          <a:solidFill>
            <a:srgbClr val="0F2348"/>
          </a:solidFill>
          <a:ln>
            <a:solidFill>
              <a:srgbClr val="0F2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0972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1060704"/>
            <a:ext cx="74980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1">
                <a:solidFill>
                  <a:srgbClr val="0F2348"/>
                </a:solidFill>
                <a:latin typeface="Aptos"/>
              </a:rPr>
              <a:t>Synthetic demo data</a:t>
            </a:r>
          </a:p>
        </p:txBody>
      </p:sp>
      <p:sp>
        <p:nvSpPr>
          <p:cNvPr id="15" name="Can 14"/>
          <p:cNvSpPr/>
          <p:nvPr/>
        </p:nvSpPr>
        <p:spPr>
          <a:xfrm>
            <a:off x="1490472" y="1106424"/>
            <a:ext cx="219456" cy="219456"/>
          </a:xfrm>
          <a:prstGeom prst="can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7128" y="1097280"/>
            <a:ext cx="274320" cy="274320"/>
          </a:xfrm>
          <a:prstGeom prst="ellipse">
            <a:avLst/>
          </a:prstGeom>
          <a:solidFill>
            <a:srgbClr val="0F2348"/>
          </a:solidFill>
          <a:ln>
            <a:solidFill>
              <a:srgbClr val="0F2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7128" y="10972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1060704"/>
            <a:ext cx="56692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1">
                <a:solidFill>
                  <a:srgbClr val="0F2348"/>
                </a:solidFill>
                <a:latin typeface="Aptos"/>
              </a:rPr>
              <a:t>Feature matrices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1106424"/>
            <a:ext cx="92171" cy="92171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23077" y="1106424"/>
            <a:ext cx="92171" cy="92171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08960" y="1220541"/>
            <a:ext cx="92171" cy="92171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23077" y="1220541"/>
            <a:ext cx="92171" cy="92171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85615" y="10972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5615" y="10972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00" b="1">
                <a:solidFill>
                  <a:srgbClr val="0F2348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1060704"/>
            <a:ext cx="2633472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KEEPZ AI ENGINE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848855" y="1121785"/>
            <a:ext cx="70226" cy="92172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19081" y="1121785"/>
            <a:ext cx="70226" cy="92172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809353" y="1213957"/>
            <a:ext cx="39502" cy="9875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48855" y="1213957"/>
            <a:ext cx="39503" cy="9875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949805" y="1213957"/>
            <a:ext cx="39502" cy="9875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9307" y="1213957"/>
            <a:ext cx="39502" cy="9875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903719" y="1106424"/>
            <a:ext cx="30723" cy="3072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33494" y="1198595"/>
            <a:ext cx="30723" cy="3072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973945" y="1198595"/>
            <a:ext cx="30723" cy="3072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3991" y="1297350"/>
            <a:ext cx="30723" cy="3072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72996" y="1297350"/>
            <a:ext cx="30723" cy="3072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34443" y="1297350"/>
            <a:ext cx="30723" cy="3072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13447" y="1297350"/>
            <a:ext cx="30723" cy="3072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70648" y="1097280"/>
            <a:ext cx="274320" cy="274320"/>
          </a:xfrm>
          <a:prstGeom prst="ellipse">
            <a:avLst/>
          </a:prstGeom>
          <a:solidFill>
            <a:srgbClr val="0F2348"/>
          </a:solidFill>
          <a:ln>
            <a:solidFill>
              <a:srgbClr val="0F2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0648" y="10972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9832" y="1060704"/>
            <a:ext cx="84124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1">
                <a:solidFill>
                  <a:srgbClr val="0F2348"/>
                </a:solidFill>
                <a:latin typeface="Aptos"/>
              </a:rPr>
              <a:t>Scoring outputs</a:t>
            </a:r>
          </a:p>
        </p:txBody>
      </p:sp>
      <p:sp>
        <p:nvSpPr>
          <p:cNvPr id="42" name="Folded Corner 41"/>
          <p:cNvSpPr/>
          <p:nvPr/>
        </p:nvSpPr>
        <p:spPr>
          <a:xfrm>
            <a:off x="8686800" y="1106424"/>
            <a:ext cx="179953" cy="219456"/>
          </a:xfrm>
          <a:prstGeom prst="foldedCorner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8719718" y="1189817"/>
            <a:ext cx="103144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19718" y="1231513"/>
            <a:ext cx="103144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719718" y="1273210"/>
            <a:ext cx="103144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363455" y="1097280"/>
            <a:ext cx="274320" cy="274320"/>
          </a:xfrm>
          <a:prstGeom prst="ellipse">
            <a:avLst/>
          </a:prstGeom>
          <a:solidFill>
            <a:srgbClr val="0F2348"/>
          </a:solidFill>
          <a:ln>
            <a:solidFill>
              <a:srgbClr val="0F2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63455" y="10972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1060704"/>
            <a:ext cx="1856232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1">
                <a:solidFill>
                  <a:srgbClr val="0F2348"/>
                </a:solidFill>
                <a:latin typeface="Aptos"/>
              </a:rPr>
              <a:t>Streamlit UI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594592" y="1106424"/>
            <a:ext cx="219456" cy="153619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11634094" y="1176649"/>
            <a:ext cx="52669" cy="3730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686763" y="1176649"/>
            <a:ext cx="39502" cy="24141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1726265" y="1145926"/>
            <a:ext cx="48280" cy="54864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704319" y="1260043"/>
            <a:ext cx="0" cy="46085"/>
          </a:xfrm>
          <a:prstGeom prst="line">
            <a:avLst/>
          </a:prstGeom>
          <a:ln w="15240">
            <a:solidFill>
              <a:srgbClr val="0070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656039" y="1306128"/>
            <a:ext cx="96561" cy="0"/>
          </a:xfrm>
          <a:prstGeom prst="line">
            <a:avLst/>
          </a:prstGeom>
          <a:ln w="15240">
            <a:solidFill>
              <a:srgbClr val="0070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856231" y="3520440"/>
            <a:ext cx="173737" cy="0"/>
          </a:xfrm>
          <a:prstGeom prst="line">
            <a:avLst/>
          </a:prstGeom>
          <a:ln w="50800">
            <a:solidFill>
              <a:srgbClr val="0070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474720" y="3520440"/>
            <a:ext cx="173736" cy="0"/>
          </a:xfrm>
          <a:prstGeom prst="line">
            <a:avLst/>
          </a:prstGeom>
          <a:ln w="50800">
            <a:solidFill>
              <a:srgbClr val="21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159751" y="3520440"/>
            <a:ext cx="173737" cy="0"/>
          </a:xfrm>
          <a:prstGeom prst="line">
            <a:avLst/>
          </a:prstGeom>
          <a:ln w="50800">
            <a:solidFill>
              <a:srgbClr val="0070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052560" y="3520440"/>
            <a:ext cx="173736" cy="0"/>
          </a:xfrm>
          <a:prstGeom prst="line">
            <a:avLst/>
          </a:prstGeom>
          <a:ln w="50800">
            <a:solidFill>
              <a:srgbClr val="0070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93192" y="1517904"/>
            <a:ext cx="1298448" cy="274320"/>
          </a:xfrm>
          <a:prstGeom prst="roundRect">
            <a:avLst/>
          </a:prstGeom>
          <a:solidFill>
            <a:srgbClr val="0070AD"/>
          </a:solidFill>
          <a:ln w="1524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3192" y="1517904"/>
            <a:ext cx="129844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generate_and_score.py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" y="1938528"/>
            <a:ext cx="118872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500" b="1">
                <a:solidFill>
                  <a:srgbClr val="0F2348"/>
                </a:solidFill>
                <a:latin typeface="Aptos"/>
              </a:rPr>
              <a:t>80 employees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0624" y="2395728"/>
            <a:ext cx="1243584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39496" y="2468880"/>
            <a:ext cx="73152" cy="73152"/>
          </a:xfrm>
          <a:prstGeom prst="ellipse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rc 63"/>
          <p:cNvSpPr/>
          <p:nvPr/>
        </p:nvSpPr>
        <p:spPr>
          <a:xfrm>
            <a:off x="484632" y="2540203"/>
            <a:ext cx="182880" cy="113385"/>
          </a:xfrm>
          <a:prstGeom prst="arc">
            <a:avLst/>
          </a:prstGeom>
          <a:noFill/>
          <a:ln w="2540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2395728"/>
            <a:ext cx="89611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919" b="0">
                <a:solidFill>
                  <a:srgbClr val="0F2348"/>
                </a:solidFill>
                <a:latin typeface="Aptos"/>
              </a:rPr>
              <a:t>Faker (en_IN)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0624" y="2862072"/>
            <a:ext cx="1243584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84632" y="2935224"/>
            <a:ext cx="76809" cy="76809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79729" y="2935224"/>
            <a:ext cx="76809" cy="76809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84632" y="3030321"/>
            <a:ext cx="76809" cy="76809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79729" y="3030321"/>
            <a:ext cx="76809" cy="76809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" y="2862072"/>
            <a:ext cx="89611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919" b="0">
                <a:solidFill>
                  <a:srgbClr val="0F2348"/>
                </a:solidFill>
                <a:latin typeface="Aptos"/>
              </a:rPr>
              <a:t>Python random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0624" y="3328416"/>
            <a:ext cx="1243584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84632" y="3401568"/>
            <a:ext cx="76809" cy="76809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79729" y="3401568"/>
            <a:ext cx="76809" cy="76809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84632" y="3496665"/>
            <a:ext cx="76809" cy="76809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79729" y="3496665"/>
            <a:ext cx="76809" cy="76809"/>
          </a:xfrm>
          <a:prstGeom prst="roundRect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3232" y="3328416"/>
            <a:ext cx="89611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919" b="0">
                <a:solidFill>
                  <a:srgbClr val="0F2348"/>
                </a:solidFill>
                <a:latin typeface="Aptos"/>
              </a:rPr>
              <a:t>NumPy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0624" y="3794760"/>
            <a:ext cx="1243584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an 78"/>
          <p:cNvSpPr/>
          <p:nvPr/>
        </p:nvSpPr>
        <p:spPr>
          <a:xfrm>
            <a:off x="484632" y="3867912"/>
            <a:ext cx="182880" cy="182880"/>
          </a:xfrm>
          <a:prstGeom prst="can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3232" y="3794760"/>
            <a:ext cx="89611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919" b="1">
                <a:solidFill>
                  <a:srgbClr val="0F2348"/>
                </a:solidFill>
                <a:latin typeface="Aptos"/>
              </a:rPr>
              <a:t>Pandas DataFrame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3192" y="4370832"/>
            <a:ext cx="1298448" cy="60350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516175"/>
                </a:solidFill>
                <a:latin typeface="Aptos"/>
              </a:rPr>
              <a:t>Seed = 42
Reproducible synthetic records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84048" y="5230368"/>
            <a:ext cx="1316736" cy="274320"/>
          </a:xfrm>
          <a:prstGeom prst="roundRect">
            <a:avLst/>
          </a:prstGeom>
          <a:solidFill>
            <a:srgbClr val="E30021"/>
          </a:solidFill>
          <a:ln w="15240">
            <a:solidFill>
              <a:srgbClr val="E3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4048" y="5230368"/>
            <a:ext cx="1316736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No live HRIS connection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94560" y="1572768"/>
            <a:ext cx="11155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100" b="1">
                <a:solidFill>
                  <a:srgbClr val="0070AD"/>
                </a:solidFill>
                <a:latin typeface="Aptos"/>
              </a:rPr>
              <a:t>Attrition features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76856" y="1883664"/>
            <a:ext cx="9601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500" b="1">
                <a:solidFill>
                  <a:srgbClr val="0F2348"/>
                </a:solidFill>
                <a:latin typeface="Aptos"/>
              </a:rPr>
              <a:t>11 fields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76272" y="2212848"/>
            <a:ext cx="1143000" cy="11887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910" b="0">
                <a:solidFill>
                  <a:srgbClr val="516175"/>
                </a:solidFill>
                <a:latin typeface="Aptos"/>
              </a:rPr>
              <a:t>Tenure • promotion wait
applications • ratings
engagement • workload
overtime • absence
flexibility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76272" y="3703320"/>
            <a:ext cx="116128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100" b="1">
                <a:solidFill>
                  <a:srgbClr val="4736B4"/>
                </a:solidFill>
                <a:latin typeface="Aptos"/>
              </a:rPr>
              <a:t>Criticality features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76856" y="4014215"/>
            <a:ext cx="9601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500" b="1">
                <a:solidFill>
                  <a:srgbClr val="0F2348"/>
                </a:solidFill>
                <a:latin typeface="Aptos"/>
              </a:rPr>
              <a:t>8 fields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76272" y="4352544"/>
            <a:ext cx="114300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910" b="0">
                <a:solidFill>
                  <a:srgbClr val="516175"/>
                </a:solidFill>
                <a:latin typeface="Aptos"/>
              </a:rPr>
              <a:t>Level • performance
client-facing • reports
projects • successor
replacement time • tenure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48840" y="5559552"/>
            <a:ext cx="1207008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850" b="1">
                <a:solidFill>
                  <a:srgbClr val="E30021"/>
                </a:solidFill>
                <a:latin typeface="Aptos"/>
              </a:rPr>
              <a:t>Binary labels are derived from deterministic synthetic signals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77056" y="1444752"/>
            <a:ext cx="3054096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50" b="0">
                <a:solidFill>
                  <a:srgbClr val="DAE1FF"/>
                </a:solidFill>
                <a:latin typeface="Aptos"/>
              </a:rPr>
              <a:t>Two separate scikit-learn classifiers trained in-process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840480" y="1856231"/>
            <a:ext cx="1435608" cy="19385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H="1">
            <a:off x="4489703" y="1956450"/>
            <a:ext cx="81931" cy="107533"/>
          </a:xfrm>
          <a:prstGeom prst="line">
            <a:avLst/>
          </a:prstGeom>
          <a:ln w="13970">
            <a:solidFill>
              <a:srgbClr val="21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571634" y="1956450"/>
            <a:ext cx="81930" cy="107533"/>
          </a:xfrm>
          <a:prstGeom prst="line">
            <a:avLst/>
          </a:prstGeom>
          <a:ln w="13970">
            <a:solidFill>
              <a:srgbClr val="21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4443618" y="2063983"/>
            <a:ext cx="46085" cy="115215"/>
          </a:xfrm>
          <a:prstGeom prst="line">
            <a:avLst/>
          </a:prstGeom>
          <a:ln w="13970">
            <a:solidFill>
              <a:srgbClr val="21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489703" y="2063983"/>
            <a:ext cx="46086" cy="115215"/>
          </a:xfrm>
          <a:prstGeom prst="line">
            <a:avLst/>
          </a:prstGeom>
          <a:ln w="13970">
            <a:solidFill>
              <a:srgbClr val="21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4607478" y="2063983"/>
            <a:ext cx="46086" cy="115215"/>
          </a:xfrm>
          <a:prstGeom prst="line">
            <a:avLst/>
          </a:prstGeom>
          <a:ln w="13970">
            <a:solidFill>
              <a:srgbClr val="21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653564" y="2063983"/>
            <a:ext cx="46086" cy="115215"/>
          </a:xfrm>
          <a:prstGeom prst="line">
            <a:avLst/>
          </a:prstGeom>
          <a:ln w="13970">
            <a:solidFill>
              <a:srgbClr val="21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4553712" y="1938528"/>
            <a:ext cx="35844" cy="35844"/>
          </a:xfrm>
          <a:prstGeom prst="ellipse">
            <a:avLst/>
          </a:prstGeom>
          <a:solidFill>
            <a:srgbClr val="21BBDF"/>
          </a:solidFill>
          <a:ln>
            <a:solidFill>
              <a:srgbClr val="21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471781" y="2046061"/>
            <a:ext cx="35844" cy="35844"/>
          </a:xfrm>
          <a:prstGeom prst="ellipse">
            <a:avLst/>
          </a:prstGeom>
          <a:solidFill>
            <a:srgbClr val="21BBDF"/>
          </a:solidFill>
          <a:ln>
            <a:solidFill>
              <a:srgbClr val="21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635642" y="2046061"/>
            <a:ext cx="35844" cy="35844"/>
          </a:xfrm>
          <a:prstGeom prst="ellipse">
            <a:avLst/>
          </a:prstGeom>
          <a:solidFill>
            <a:srgbClr val="21BBDF"/>
          </a:solidFill>
          <a:ln>
            <a:solidFill>
              <a:srgbClr val="21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425696" y="2161275"/>
            <a:ext cx="35844" cy="35844"/>
          </a:xfrm>
          <a:prstGeom prst="ellipse">
            <a:avLst/>
          </a:prstGeom>
          <a:solidFill>
            <a:srgbClr val="21BBDF"/>
          </a:solidFill>
          <a:ln>
            <a:solidFill>
              <a:srgbClr val="21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517867" y="2161275"/>
            <a:ext cx="35844" cy="35844"/>
          </a:xfrm>
          <a:prstGeom prst="ellipse">
            <a:avLst/>
          </a:prstGeom>
          <a:solidFill>
            <a:srgbClr val="21BBDF"/>
          </a:solidFill>
          <a:ln>
            <a:solidFill>
              <a:srgbClr val="21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589556" y="2161275"/>
            <a:ext cx="35844" cy="35844"/>
          </a:xfrm>
          <a:prstGeom prst="ellipse">
            <a:avLst/>
          </a:prstGeom>
          <a:solidFill>
            <a:srgbClr val="21BBDF"/>
          </a:solidFill>
          <a:ln>
            <a:solidFill>
              <a:srgbClr val="21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81728" y="2161275"/>
            <a:ext cx="35844" cy="35844"/>
          </a:xfrm>
          <a:prstGeom prst="ellipse">
            <a:avLst/>
          </a:prstGeom>
          <a:solidFill>
            <a:srgbClr val="21BBDF"/>
          </a:solidFill>
          <a:ln>
            <a:solidFill>
              <a:srgbClr val="21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886200" y="2203704"/>
            <a:ext cx="13441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21BBDF"/>
                </a:solidFill>
                <a:latin typeface="Aptos"/>
              </a:rPr>
              <a:t>Attrition AI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86200" y="2487168"/>
            <a:ext cx="1344168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919" b="1">
                <a:solidFill>
                  <a:srgbClr val="0F2348"/>
                </a:solidFill>
                <a:latin typeface="Aptos"/>
              </a:rPr>
              <a:t>RandomForestClassifier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22776" y="2761488"/>
            <a:ext cx="1271016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810" b="0">
                <a:solidFill>
                  <a:srgbClr val="516175"/>
                </a:solidFill>
                <a:latin typeface="Aptos"/>
              </a:rPr>
              <a:t>350 trees • depth 4
min leaf 4 • sqrt features
balanced classes • seed 42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005072" y="3374136"/>
            <a:ext cx="1106424" cy="274320"/>
          </a:xfrm>
          <a:prstGeom prst="roundRect">
            <a:avLst/>
          </a:prstGeom>
          <a:solidFill>
            <a:srgbClr val="21BBDF"/>
          </a:solidFill>
          <a:ln w="15240">
            <a:solidFill>
              <a:srgbClr val="21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005072" y="3374136"/>
            <a:ext cx="1106424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11 input features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904488" y="3648456"/>
            <a:ext cx="1307592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750" b="0">
                <a:solidFill>
                  <a:srgbClr val="516175"/>
                </a:solidFill>
                <a:latin typeface="Aptos"/>
              </a:rPr>
              <a:t>Trained on attrition_label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504688" y="1856231"/>
            <a:ext cx="1435608" cy="19385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94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 flipH="1">
            <a:off x="6153911" y="1956450"/>
            <a:ext cx="81931" cy="107533"/>
          </a:xfrm>
          <a:prstGeom prst="line">
            <a:avLst/>
          </a:prstGeom>
          <a:ln w="13970">
            <a:solidFill>
              <a:srgbClr val="794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235842" y="1956450"/>
            <a:ext cx="81930" cy="107533"/>
          </a:xfrm>
          <a:prstGeom prst="line">
            <a:avLst/>
          </a:prstGeom>
          <a:ln w="13970">
            <a:solidFill>
              <a:srgbClr val="794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6107826" y="2063983"/>
            <a:ext cx="46085" cy="115215"/>
          </a:xfrm>
          <a:prstGeom prst="line">
            <a:avLst/>
          </a:prstGeom>
          <a:ln w="13970">
            <a:solidFill>
              <a:srgbClr val="794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153911" y="2063983"/>
            <a:ext cx="46086" cy="115215"/>
          </a:xfrm>
          <a:prstGeom prst="line">
            <a:avLst/>
          </a:prstGeom>
          <a:ln w="13970">
            <a:solidFill>
              <a:srgbClr val="794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6271686" y="2063983"/>
            <a:ext cx="46086" cy="115215"/>
          </a:xfrm>
          <a:prstGeom prst="line">
            <a:avLst/>
          </a:prstGeom>
          <a:ln w="13970">
            <a:solidFill>
              <a:srgbClr val="794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317772" y="2063983"/>
            <a:ext cx="46086" cy="115215"/>
          </a:xfrm>
          <a:prstGeom prst="line">
            <a:avLst/>
          </a:prstGeom>
          <a:ln w="13970">
            <a:solidFill>
              <a:srgbClr val="794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6217919" y="1938528"/>
            <a:ext cx="35844" cy="35844"/>
          </a:xfrm>
          <a:prstGeom prst="ellipse">
            <a:avLst/>
          </a:prstGeom>
          <a:solidFill>
            <a:srgbClr val="7949D2"/>
          </a:solidFill>
          <a:ln>
            <a:solidFill>
              <a:srgbClr val="794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135989" y="2046061"/>
            <a:ext cx="35844" cy="35844"/>
          </a:xfrm>
          <a:prstGeom prst="ellipse">
            <a:avLst/>
          </a:prstGeom>
          <a:solidFill>
            <a:srgbClr val="7949D2"/>
          </a:solidFill>
          <a:ln>
            <a:solidFill>
              <a:srgbClr val="794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299850" y="2046061"/>
            <a:ext cx="35844" cy="35844"/>
          </a:xfrm>
          <a:prstGeom prst="ellipse">
            <a:avLst/>
          </a:prstGeom>
          <a:solidFill>
            <a:srgbClr val="7949D2"/>
          </a:solidFill>
          <a:ln>
            <a:solidFill>
              <a:srgbClr val="794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089903" y="2161275"/>
            <a:ext cx="35844" cy="35844"/>
          </a:xfrm>
          <a:prstGeom prst="ellipse">
            <a:avLst/>
          </a:prstGeom>
          <a:solidFill>
            <a:srgbClr val="7949D2"/>
          </a:solidFill>
          <a:ln>
            <a:solidFill>
              <a:srgbClr val="794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182075" y="2161275"/>
            <a:ext cx="35844" cy="35844"/>
          </a:xfrm>
          <a:prstGeom prst="ellipse">
            <a:avLst/>
          </a:prstGeom>
          <a:solidFill>
            <a:srgbClr val="7949D2"/>
          </a:solidFill>
          <a:ln>
            <a:solidFill>
              <a:srgbClr val="794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253764" y="2161275"/>
            <a:ext cx="35844" cy="35844"/>
          </a:xfrm>
          <a:prstGeom prst="ellipse">
            <a:avLst/>
          </a:prstGeom>
          <a:solidFill>
            <a:srgbClr val="7949D2"/>
          </a:solidFill>
          <a:ln>
            <a:solidFill>
              <a:srgbClr val="794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345936" y="2161275"/>
            <a:ext cx="35844" cy="35844"/>
          </a:xfrm>
          <a:prstGeom prst="ellipse">
            <a:avLst/>
          </a:prstGeom>
          <a:solidFill>
            <a:srgbClr val="7949D2"/>
          </a:solidFill>
          <a:ln>
            <a:solidFill>
              <a:srgbClr val="794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550407" y="2203704"/>
            <a:ext cx="13441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7949D2"/>
                </a:solidFill>
                <a:latin typeface="Aptos"/>
              </a:rPr>
              <a:t>Criticality AI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50407" y="2487168"/>
            <a:ext cx="1344168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919" b="1">
                <a:solidFill>
                  <a:srgbClr val="0F2348"/>
                </a:solidFill>
                <a:latin typeface="Aptos"/>
              </a:rPr>
              <a:t>RandomForestClassifier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86983" y="2761488"/>
            <a:ext cx="1271016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810" b="0">
                <a:solidFill>
                  <a:srgbClr val="516175"/>
                </a:solidFill>
                <a:latin typeface="Aptos"/>
              </a:rPr>
              <a:t>350 trees • depth 4
min leaf 4 • sqrt features
balanced classes • seed 42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669279" y="3374136"/>
            <a:ext cx="1106424" cy="274320"/>
          </a:xfrm>
          <a:prstGeom prst="roundRect">
            <a:avLst/>
          </a:prstGeom>
          <a:solidFill>
            <a:srgbClr val="7949D2"/>
          </a:solidFill>
          <a:ln w="15240">
            <a:solidFill>
              <a:srgbClr val="794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669279" y="3374136"/>
            <a:ext cx="1106424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8 input features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568696" y="3648456"/>
            <a:ext cx="1307592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750" b="0">
                <a:solidFill>
                  <a:srgbClr val="516175"/>
                </a:solidFill>
                <a:latin typeface="Aptos"/>
              </a:rPr>
              <a:t>Trained on criticality_label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4553712" y="3831336"/>
            <a:ext cx="0" cy="265176"/>
          </a:xfrm>
          <a:prstGeom prst="line">
            <a:avLst/>
          </a:prstGeom>
          <a:ln w="25400">
            <a:solidFill>
              <a:srgbClr val="21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217920" y="3831336"/>
            <a:ext cx="0" cy="265176"/>
          </a:xfrm>
          <a:prstGeom prst="line">
            <a:avLst/>
          </a:prstGeom>
          <a:ln w="25400">
            <a:solidFill>
              <a:srgbClr val="794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3968496" y="4105656"/>
            <a:ext cx="3017520" cy="621792"/>
          </a:xfrm>
          <a:prstGeom prst="roundRect">
            <a:avLst/>
          </a:prstGeom>
          <a:solidFill>
            <a:srgbClr val="EFF3FF"/>
          </a:solidFill>
          <a:ln w="15240">
            <a:solidFill>
              <a:srgbClr val="A2A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041648" y="4160520"/>
            <a:ext cx="2871216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50" b="1">
                <a:solidFill>
                  <a:srgbClr val="0F2348"/>
                </a:solidFill>
                <a:latin typeface="Aptos"/>
              </a:rPr>
              <a:t>predict_proba → shrink to 5%–80% demo interval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41648" y="4425696"/>
            <a:ext cx="2871216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850" b="0">
                <a:solidFill>
                  <a:srgbClr val="516175"/>
                </a:solidFill>
                <a:latin typeface="Aptos"/>
              </a:rPr>
              <a:t>model.feature_importances_ captured for both models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968496" y="4892040"/>
            <a:ext cx="3017520" cy="1051560"/>
          </a:xfrm>
          <a:prstGeom prst="roundRect">
            <a:avLst/>
          </a:prstGeom>
          <a:solidFill>
            <a:srgbClr val="0B508B"/>
          </a:solidFill>
          <a:ln w="15240">
            <a:solidFill>
              <a:srgbClr val="21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069080" y="4965192"/>
            <a:ext cx="2816352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Keepz retention score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69080" y="5248656"/>
            <a:ext cx="2816352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100 × (0.7 × criticality × attrition
+ 0.3 × criticality)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069080" y="5687568"/>
            <a:ext cx="2816352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850" b="0">
                <a:solidFill>
                  <a:srgbClr val="CEECFF"/>
                </a:solidFill>
                <a:latin typeface="Aptos"/>
              </a:rPr>
              <a:t>Importance to retain — not a probability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525512" y="1645920"/>
            <a:ext cx="1335024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olded Corner 141"/>
          <p:cNvSpPr/>
          <p:nvPr/>
        </p:nvSpPr>
        <p:spPr>
          <a:xfrm>
            <a:off x="7598664" y="1801368"/>
            <a:ext cx="254934" cy="310896"/>
          </a:xfrm>
          <a:prstGeom prst="foldedCorner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7645298" y="1919508"/>
            <a:ext cx="146121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645298" y="1978578"/>
            <a:ext cx="146121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645298" y="2037648"/>
            <a:ext cx="146121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7927848" y="1709928"/>
            <a:ext cx="86868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69" b="1">
                <a:solidFill>
                  <a:srgbClr val="0070AD"/>
                </a:solidFill>
                <a:latin typeface="Aptos"/>
              </a:rPr>
              <a:t>employee_scores.csv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18704" y="1984248"/>
            <a:ext cx="87782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720" b="0">
                <a:solidFill>
                  <a:srgbClr val="516175"/>
                </a:solidFill>
                <a:latin typeface="Aptos"/>
              </a:rPr>
              <a:t>probabilities • predictions • Keepz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525512" y="2496312"/>
            <a:ext cx="1335024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73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olded Corner 148"/>
          <p:cNvSpPr/>
          <p:nvPr/>
        </p:nvSpPr>
        <p:spPr>
          <a:xfrm>
            <a:off x="7598664" y="2651760"/>
            <a:ext cx="254934" cy="310896"/>
          </a:xfrm>
          <a:prstGeom prst="foldedCorner">
            <a:avLst/>
          </a:prstGeom>
          <a:solidFill>
            <a:srgbClr val="4736B4"/>
          </a:solidFill>
          <a:ln>
            <a:solidFill>
              <a:srgbClr val="473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7645298" y="2769900"/>
            <a:ext cx="146121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645298" y="2828970"/>
            <a:ext cx="146121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7645298" y="2888040"/>
            <a:ext cx="146121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7927848" y="2560320"/>
            <a:ext cx="86868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69" b="1">
                <a:solidFill>
                  <a:srgbClr val="4736B4"/>
                </a:solidFill>
                <a:latin typeface="Aptos"/>
              </a:rPr>
              <a:t>feature_importance.csv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918704" y="2834640"/>
            <a:ext cx="87782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720" b="0">
                <a:solidFill>
                  <a:srgbClr val="516175"/>
                </a:solidFill>
                <a:latin typeface="Aptos"/>
              </a:rPr>
              <a:t>model • feature • importance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589520" y="3483864"/>
            <a:ext cx="1207008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0F2348"/>
                </a:solidFill>
                <a:latin typeface="Aptos"/>
              </a:rPr>
              <a:t>50% threshold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562088" y="3785615"/>
            <a:ext cx="1261872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919" b="0">
                <a:solidFill>
                  <a:srgbClr val="516175"/>
                </a:solidFill>
                <a:latin typeface="Aptos"/>
              </a:rPr>
              <a:t>Likely to leave / stay
Critical / non-critical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589520" y="4434840"/>
            <a:ext cx="1207008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100" b="1">
                <a:solidFill>
                  <a:srgbClr val="0F2348"/>
                </a:solidFill>
                <a:latin typeface="Aptos"/>
              </a:rPr>
              <a:t>Keepz bands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534656" y="4782312"/>
            <a:ext cx="603504" cy="274320"/>
          </a:xfrm>
          <a:prstGeom prst="roundRect">
            <a:avLst/>
          </a:prstGeom>
          <a:solidFill>
            <a:srgbClr val="178C3D"/>
          </a:solidFill>
          <a:ln w="15240">
            <a:solidFill>
              <a:srgbClr val="178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34656" y="4782312"/>
            <a:ext cx="603504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0–20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211312" y="4782312"/>
            <a:ext cx="603504" cy="274320"/>
          </a:xfrm>
          <a:prstGeom prst="roundRect">
            <a:avLst/>
          </a:prstGeom>
          <a:solidFill>
            <a:srgbClr val="FFD068"/>
          </a:solidFill>
          <a:ln w="15240">
            <a:solidFill>
              <a:srgbClr val="FFD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211312" y="4782312"/>
            <a:ext cx="603504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800" b="1">
                <a:solidFill>
                  <a:srgbClr val="0F2348"/>
                </a:solidFill>
                <a:latin typeface="Aptos"/>
              </a:rPr>
              <a:t>20–40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7534656" y="5221224"/>
            <a:ext cx="603504" cy="274320"/>
          </a:xfrm>
          <a:prstGeom prst="roundRect">
            <a:avLst/>
          </a:prstGeom>
          <a:solidFill>
            <a:srgbClr val="FF9C29"/>
          </a:solidFill>
          <a:ln w="15240">
            <a:solidFill>
              <a:srgbClr val="FF9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534656" y="5221224"/>
            <a:ext cx="603504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40–55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211312" y="5221224"/>
            <a:ext cx="603504" cy="274320"/>
          </a:xfrm>
          <a:prstGeom prst="roundRect">
            <a:avLst/>
          </a:prstGeom>
          <a:solidFill>
            <a:srgbClr val="E30021"/>
          </a:solidFill>
          <a:ln w="15240">
            <a:solidFill>
              <a:srgbClr val="E3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211312" y="5221224"/>
            <a:ext cx="603504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55+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534656" y="5715000"/>
            <a:ext cx="1335024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850" b="1">
                <a:solidFill>
                  <a:srgbClr val="E30021"/>
                </a:solidFill>
                <a:latin typeface="Aptos"/>
              </a:rPr>
              <a:t>Action case = both model
probabilities ≥ 50%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473184" y="1508760"/>
            <a:ext cx="713232" cy="274320"/>
          </a:xfrm>
          <a:prstGeom prst="roundRect">
            <a:avLst/>
          </a:prstGeom>
          <a:solidFill>
            <a:srgbClr val="0070AD"/>
          </a:solidFill>
          <a:ln w="1524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473184" y="1508760"/>
            <a:ext cx="713232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app.py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259568" y="1508760"/>
            <a:ext cx="640080" cy="274320"/>
          </a:xfrm>
          <a:prstGeom prst="roundRect">
            <a:avLst/>
          </a:prstGeom>
          <a:solidFill>
            <a:srgbClr val="4736B4"/>
          </a:solidFill>
          <a:ln w="15240">
            <a:solidFill>
              <a:srgbClr val="473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259568" y="1508760"/>
            <a:ext cx="64008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Plotly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0972800" y="1508760"/>
            <a:ext cx="749808" cy="274320"/>
          </a:xfrm>
          <a:prstGeom prst="roundRect">
            <a:avLst/>
          </a:prstGeom>
          <a:solidFill>
            <a:srgbClr val="516175"/>
          </a:solidFill>
          <a:ln w="15240">
            <a:solidFill>
              <a:srgbClr val="516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972800" y="1508760"/>
            <a:ext cx="74980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styles.css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482328" y="2011680"/>
            <a:ext cx="2286000" cy="8321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674352" y="2249424"/>
            <a:ext cx="109728" cy="109728"/>
          </a:xfrm>
          <a:prstGeom prst="ellipse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Arc 174"/>
          <p:cNvSpPr/>
          <p:nvPr/>
        </p:nvSpPr>
        <p:spPr>
          <a:xfrm>
            <a:off x="9592056" y="2356408"/>
            <a:ext cx="274320" cy="170078"/>
          </a:xfrm>
          <a:prstGeom prst="arc">
            <a:avLst/>
          </a:prstGeom>
          <a:noFill/>
          <a:ln w="2540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921240" y="2084832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>
                <a:solidFill>
                  <a:srgbClr val="0070AD"/>
                </a:solidFill>
                <a:latin typeface="Aptos"/>
              </a:rPr>
              <a:t>TEAM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607040" y="2075688"/>
            <a:ext cx="105156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0">
                <a:solidFill>
                  <a:srgbClr val="516175"/>
                </a:solidFill>
                <a:latin typeface="Aptos"/>
              </a:rPr>
              <a:t>4 metrics • scatter plot
Top 6 by Keepz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482328" y="3044952"/>
            <a:ext cx="2286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592056" y="3282696"/>
            <a:ext cx="274320" cy="274320"/>
          </a:xfrm>
          <a:prstGeom prst="ellipse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592056" y="32735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921240" y="3118104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>
                <a:solidFill>
                  <a:srgbClr val="0070AD"/>
                </a:solidFill>
                <a:latin typeface="Aptos"/>
              </a:rPr>
              <a:t>INDIVIDUAL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607040" y="3108960"/>
            <a:ext cx="1051560" cy="8595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0">
                <a:solidFill>
                  <a:srgbClr val="516175"/>
                </a:solidFill>
                <a:latin typeface="Aptos"/>
              </a:rPr>
              <a:t>probability gauges • summary
leading attrition signals
manager context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9482328" y="4315968"/>
            <a:ext cx="2286000" cy="8321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ardrop 183"/>
          <p:cNvSpPr/>
          <p:nvPr/>
        </p:nvSpPr>
        <p:spPr>
          <a:xfrm rot="10800000">
            <a:off x="9592056" y="4553712"/>
            <a:ext cx="274320" cy="274320"/>
          </a:xfrm>
          <a:prstGeom prst="teardrop">
            <a:avLst/>
          </a:prstGeom>
          <a:solidFill>
            <a:srgbClr val="0070AD"/>
          </a:solidFill>
          <a:ln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9685324" y="4622292"/>
            <a:ext cx="82296" cy="8229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921240" y="4389120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>
                <a:solidFill>
                  <a:srgbClr val="0070AD"/>
                </a:solidFill>
                <a:latin typeface="Aptos"/>
              </a:rPr>
              <a:t>GEOGRAPHY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607040" y="4379976"/>
            <a:ext cx="105156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0">
                <a:solidFill>
                  <a:srgbClr val="516175"/>
                </a:solidFill>
                <a:latin typeface="Aptos"/>
              </a:rPr>
              <a:t>India office map • comparison
location table • action cases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555480" y="5431536"/>
            <a:ext cx="2139696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0F2348"/>
                </a:solidFill>
                <a:latin typeface="Aptos"/>
              </a:rPr>
              <a:t>Department + location filters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528048" y="5769864"/>
            <a:ext cx="21945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850" b="1">
                <a:solidFill>
                  <a:srgbClr val="E30021"/>
                </a:solidFill>
                <a:latin typeface="Aptos"/>
              </a:rPr>
              <a:t>Decision support only; no automated intervention workflow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93192" y="6510528"/>
            <a:ext cx="1138428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50" b="0">
                <a:solidFill>
                  <a:srgbClr val="516175"/>
                </a:solidFill>
                <a:latin typeface="Aptos"/>
              </a:rPr>
              <a:t>Evidence: generate_and_score.py • app.py • utils/charts.py • 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89611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500" b="1">
                <a:solidFill>
                  <a:srgbClr val="0F2348"/>
                </a:solidFill>
                <a:latin typeface="Aptos"/>
              </a:rPr>
              <a:t>What exists today — and what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566928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516175"/>
                </a:solidFill>
                <a:latin typeface="Aptos"/>
              </a:rPr>
              <a:t>Architecture boundary verified against the repository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09960" y="228600"/>
            <a:ext cx="594360" cy="274320"/>
          </a:xfrm>
          <a:prstGeom prst="roundRect">
            <a:avLst/>
          </a:prstGeom>
          <a:solidFill>
            <a:srgbClr val="0F2348"/>
          </a:solidFill>
          <a:ln w="15240">
            <a:solidFill>
              <a:srgbClr val="0F2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28600"/>
            <a:ext cx="59436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24128"/>
            <a:ext cx="54864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178C3D"/>
                </a:solidFill>
                <a:latin typeface="Aptos"/>
              </a:rPr>
              <a:t>IMPLEMENTED IN THE CURRENT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24128"/>
            <a:ext cx="54406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E30021"/>
                </a:solidFill>
                <a:latin typeface="Aptos"/>
              </a:rPr>
              <a:t>NOT IMPLEMENTED / SHOULD NOT BE CLAIMED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444752"/>
            <a:ext cx="5468112" cy="621792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7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09344"/>
            <a:ext cx="274320" cy="274320"/>
          </a:xfrm>
          <a:prstGeom prst="roundRect">
            <a:avLst/>
          </a:prstGeom>
          <a:solidFill>
            <a:srgbClr val="178C3D"/>
          </a:solidFill>
          <a:ln w="15240">
            <a:solidFill>
              <a:srgbClr val="178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9344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1508760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Synthetic data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1499616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80 reproducible records using Faker, random, NumPy and Pandas; seed 42.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139696"/>
            <a:ext cx="5468112" cy="621792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7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304288"/>
            <a:ext cx="274320" cy="274320"/>
          </a:xfrm>
          <a:prstGeom prst="roundRect">
            <a:avLst/>
          </a:prstGeom>
          <a:solidFill>
            <a:srgbClr val="178C3D"/>
          </a:solidFill>
          <a:ln w="15240">
            <a:solidFill>
              <a:srgbClr val="178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04288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203703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Two AI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2194560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Separate Random Forest classifiers for attrition and criticality, trained during script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2834639"/>
            <a:ext cx="5468112" cy="621792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7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999232"/>
            <a:ext cx="274320" cy="274320"/>
          </a:xfrm>
          <a:prstGeom prst="roundRect">
            <a:avLst/>
          </a:prstGeom>
          <a:solidFill>
            <a:srgbClr val="178C3D"/>
          </a:solidFill>
          <a:ln w="15240">
            <a:solidFill>
              <a:srgbClr val="178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99232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2898647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Defined demo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2889503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Attrition = top 30% synthetic signal; criticality = top 45% synthetic signal.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3529583"/>
            <a:ext cx="5468112" cy="621792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7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694175"/>
            <a:ext cx="274320" cy="274320"/>
          </a:xfrm>
          <a:prstGeom prst="roundRect">
            <a:avLst/>
          </a:prstGeom>
          <a:solidFill>
            <a:srgbClr val="178C3D"/>
          </a:solidFill>
          <a:ln w="15240">
            <a:solidFill>
              <a:srgbClr val="178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94175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593591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Bounded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3584447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Raw predict_proba values are linearly shrunk to the 5%–80% demonstration interval.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224527"/>
            <a:ext cx="5468112" cy="621792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7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389119"/>
            <a:ext cx="274320" cy="274320"/>
          </a:xfrm>
          <a:prstGeom prst="roundRect">
            <a:avLst/>
          </a:prstGeom>
          <a:solidFill>
            <a:srgbClr val="178C3D"/>
          </a:solidFill>
          <a:ln w="15240">
            <a:solidFill>
              <a:srgbClr val="178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389119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288536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Explainability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6896" y="4279391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Feature importance is exported for both models; individual UI uses ranked attrition features.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4919471"/>
            <a:ext cx="5468112" cy="621792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7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5084063"/>
            <a:ext cx="274320" cy="274320"/>
          </a:xfrm>
          <a:prstGeom prst="roundRect">
            <a:avLst/>
          </a:prstGeom>
          <a:solidFill>
            <a:srgbClr val="178C3D"/>
          </a:solidFill>
          <a:ln w="15240">
            <a:solidFill>
              <a:srgbClr val="178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84063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983479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Keepz calculation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974335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A deterministic importance-to-retain score combining criticality and attrition probabilities.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" y="5614415"/>
            <a:ext cx="5468112" cy="621792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C7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5779007"/>
            <a:ext cx="274320" cy="274320"/>
          </a:xfrm>
          <a:prstGeom prst="roundRect">
            <a:avLst/>
          </a:prstGeom>
          <a:solidFill>
            <a:srgbClr val="178C3D"/>
          </a:solidFill>
          <a:ln w="15240">
            <a:solidFill>
              <a:srgbClr val="178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779007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5678423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Manager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6896" y="5669279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Streamlit Team, Individual and Geography views with department/location filters.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1444752"/>
            <a:ext cx="5468112" cy="621792"/>
          </a:xfrm>
          <a:prstGeom prst="roundRect">
            <a:avLst/>
          </a:prstGeom>
          <a:solidFill>
            <a:srgbClr val="FFF7F8"/>
          </a:solidFill>
          <a:ln w="15240">
            <a:solidFill>
              <a:srgbClr val="EE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73368" y="1609344"/>
            <a:ext cx="274320" cy="274320"/>
          </a:xfrm>
          <a:prstGeom prst="roundRect">
            <a:avLst/>
          </a:prstGeom>
          <a:solidFill>
            <a:srgbClr val="E30021"/>
          </a:solidFill>
          <a:ln w="15240">
            <a:solidFill>
              <a:srgbClr val="E3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1609344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3" y="1508760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Live enterprise integrations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1499616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No HRIS, survey, time, performance or succession-system connector exists.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2139696"/>
            <a:ext cx="5468112" cy="621792"/>
          </a:xfrm>
          <a:prstGeom prst="roundRect">
            <a:avLst/>
          </a:prstGeom>
          <a:solidFill>
            <a:srgbClr val="FFF7F8"/>
          </a:solidFill>
          <a:ln w="15240">
            <a:solidFill>
              <a:srgbClr val="EE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73368" y="2304288"/>
            <a:ext cx="274320" cy="274320"/>
          </a:xfrm>
          <a:prstGeom prst="roundRect">
            <a:avLst/>
          </a:prstGeom>
          <a:solidFill>
            <a:srgbClr val="E30021"/>
          </a:solidFill>
          <a:ln w="15240">
            <a:solidFill>
              <a:srgbClr val="E3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73368" y="2304288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9983" y="2203703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Production outcomes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21624" y="2194560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No recorded voluntary-exit history or agreed business critical-role label is used.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2834639"/>
            <a:ext cx="5468112" cy="621792"/>
          </a:xfrm>
          <a:prstGeom prst="roundRect">
            <a:avLst/>
          </a:prstGeom>
          <a:solidFill>
            <a:srgbClr val="FFF7F8"/>
          </a:solidFill>
          <a:ln w="15240">
            <a:solidFill>
              <a:srgbClr val="EE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373368" y="2999232"/>
            <a:ext cx="274320" cy="274320"/>
          </a:xfrm>
          <a:prstGeom prst="roundRect">
            <a:avLst/>
          </a:prstGeom>
          <a:solidFill>
            <a:srgbClr val="E30021"/>
          </a:solidFill>
          <a:ln w="15240">
            <a:solidFill>
              <a:srgbClr val="E3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3368" y="2999232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9983" y="2898647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Model service or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21624" y="2889503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No endpoint, batch scheduler, feature store, registry or persisted model artifact exists.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3529583"/>
            <a:ext cx="5468112" cy="621792"/>
          </a:xfrm>
          <a:prstGeom prst="roundRect">
            <a:avLst/>
          </a:prstGeom>
          <a:solidFill>
            <a:srgbClr val="FFF7F8"/>
          </a:solidFill>
          <a:ln w="15240">
            <a:solidFill>
              <a:srgbClr val="EE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373368" y="3694175"/>
            <a:ext cx="274320" cy="274320"/>
          </a:xfrm>
          <a:prstGeom prst="roundRect">
            <a:avLst/>
          </a:prstGeom>
          <a:solidFill>
            <a:srgbClr val="E30021"/>
          </a:solidFill>
          <a:ln w="15240">
            <a:solidFill>
              <a:srgbClr val="E3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3368" y="3694175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29983" y="3593591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Out-of-sample validation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21624" y="3584447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No train/test split, cross-validation, accuracy metrics, calibration or drift monitoring.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63640" y="4224527"/>
            <a:ext cx="5468112" cy="621792"/>
          </a:xfrm>
          <a:prstGeom prst="roundRect">
            <a:avLst/>
          </a:prstGeom>
          <a:solidFill>
            <a:srgbClr val="FFF7F8"/>
          </a:solidFill>
          <a:ln w="15240">
            <a:solidFill>
              <a:srgbClr val="EE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73368" y="4389119"/>
            <a:ext cx="274320" cy="274320"/>
          </a:xfrm>
          <a:prstGeom prst="roundRect">
            <a:avLst/>
          </a:prstGeom>
          <a:solidFill>
            <a:srgbClr val="E30021"/>
          </a:solidFill>
          <a:ln w="15240">
            <a:solidFill>
              <a:srgbClr val="E3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73368" y="4389119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9983" y="4288536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Automated recommendations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21624" y="4279391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No intervention recommendation engine, GenAI coach, chatbot or action orchestration.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63640" y="4919471"/>
            <a:ext cx="5468112" cy="621792"/>
          </a:xfrm>
          <a:prstGeom prst="roundRect">
            <a:avLst/>
          </a:prstGeom>
          <a:solidFill>
            <a:srgbClr val="FFF7F8"/>
          </a:solidFill>
          <a:ln w="15240">
            <a:solidFill>
              <a:srgbClr val="EE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373368" y="5084063"/>
            <a:ext cx="274320" cy="274320"/>
          </a:xfrm>
          <a:prstGeom prst="roundRect">
            <a:avLst/>
          </a:prstGeom>
          <a:solidFill>
            <a:srgbClr val="E30021"/>
          </a:solidFill>
          <a:ln w="15240">
            <a:solidFill>
              <a:srgbClr val="E3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5084063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29983" y="4983479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Workflow execution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21624" y="4974335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No notifications, approvals, case management, write-back or employee outreach.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63640" y="5614415"/>
            <a:ext cx="5468112" cy="621792"/>
          </a:xfrm>
          <a:prstGeom prst="roundRect">
            <a:avLst/>
          </a:prstGeom>
          <a:solidFill>
            <a:srgbClr val="FFF7F8"/>
          </a:solidFill>
          <a:ln w="15240">
            <a:solidFill>
              <a:srgbClr val="EE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373368" y="5779007"/>
            <a:ext cx="274320" cy="274320"/>
          </a:xfrm>
          <a:prstGeom prst="roundRect">
            <a:avLst/>
          </a:prstGeom>
          <a:solidFill>
            <a:srgbClr val="E30021"/>
          </a:solidFill>
          <a:ln w="15240">
            <a:solidFill>
              <a:srgbClr val="E3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73368" y="5779007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29983" y="5678423"/>
            <a:ext cx="16916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1">
                <a:solidFill>
                  <a:srgbClr val="0F2348"/>
                </a:solidFill>
                <a:latin typeface="Aptos"/>
              </a:rPr>
              <a:t>Access controls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21624" y="5669279"/>
            <a:ext cx="3182112" cy="4846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69" b="0">
                <a:solidFill>
                  <a:srgbClr val="516175"/>
                </a:solidFill>
                <a:latin typeface="Aptos"/>
              </a:rPr>
              <a:t>No authentication, authorization, audit log or role-based data security layer.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8912" y="6382512"/>
            <a:ext cx="11292840" cy="310896"/>
          </a:xfrm>
          <a:prstGeom prst="roundRect">
            <a:avLst/>
          </a:prstGeom>
          <a:solidFill>
            <a:srgbClr val="EFF5FB"/>
          </a:solidFill>
          <a:ln w="15240">
            <a:solidFill>
              <a:srgbClr val="C7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9496" y="6391656"/>
            <a:ext cx="1106424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900" b="1">
                <a:solidFill>
                  <a:srgbClr val="0F2348"/>
                </a:solidFill>
                <a:latin typeface="Aptos"/>
              </a:rPr>
              <a:t>Production note from README/code: replace synthetic labels with recorded voluntary exits and an agreed historical critical-role label.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Keepz Code-Aligned AI Architecture</dc:title>
  <dc:subject>Editable architecture derived from the current Keepz repository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